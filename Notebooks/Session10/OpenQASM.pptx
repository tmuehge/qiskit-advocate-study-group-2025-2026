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71" r:id="rId5"/>
    <p:sldId id="260" r:id="rId6"/>
    <p:sldId id="272" r:id="rId7"/>
    <p:sldId id="261" r:id="rId8"/>
    <p:sldId id="273" r:id="rId9"/>
    <p:sldId id="270" r:id="rId10"/>
    <p:sldId id="275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" userDrawn="1">
          <p15:clr>
            <a:srgbClr val="A4A3A4"/>
          </p15:clr>
        </p15:guide>
        <p15:guide id="4" orient="horz" pos="72" userDrawn="1">
          <p15:clr>
            <a:srgbClr val="A4A3A4"/>
          </p15:clr>
        </p15:guide>
        <p15:guide id="5" pos="7416" userDrawn="1">
          <p15:clr>
            <a:srgbClr val="A4A3A4"/>
          </p15:clr>
        </p15:guide>
        <p15:guide id="6" pos="1248" userDrawn="1">
          <p15:clr>
            <a:srgbClr val="A4A3A4"/>
          </p15:clr>
        </p15:guide>
        <p15:guide id="7" orient="horz" pos="4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512" y="176"/>
      </p:cViewPr>
      <p:guideLst>
        <p:guide orient="horz" pos="2160"/>
        <p:guide pos="3840"/>
        <p:guide pos="72"/>
        <p:guide orient="horz" pos="72"/>
        <p:guide pos="7416"/>
        <p:guide pos="1248"/>
        <p:guide orient="horz" pos="4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A363-8303-0B44-8BAB-E19EFB4A2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94BBF-B18A-40DA-6DC8-2D4A050B5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8616D-824D-2353-0454-DFCEAECB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BA0C-1426-A350-5476-F4A1966FF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8304F-DD60-F4B8-8DF1-AF168C5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2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224B-A740-919C-90B4-A51149CF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226B-9875-77FC-2BF3-B92740ED8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E5E4F-B7D0-0C9D-A49E-D4045EEA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5B8E-8D3A-E1BE-E69F-C2B6ED2B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62326-C306-2402-ADE5-EA738528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3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6DAA-72E1-7AD1-0C4A-AE3A733D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B2466-432F-082A-21FC-DF5C5895C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0AE6F-0CCE-EDE7-DD41-70B43AA2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BC266-BC47-CDE8-7DEA-9177D731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B1227-96BE-0EA8-C97E-DB2919FB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B33F-B5EE-386A-26F2-7DB5C279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77969-5DAE-BC5D-3145-471475008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312BE-58F0-E859-311F-DF35714A5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31292-62BA-F6A8-84B6-6DEC3F27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5597D-7C16-34A4-D668-7DEF9360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566D1-8950-66C1-D032-5DCBB576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3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1BC7-659A-DEB9-955E-B8E41117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3BA49-8C6F-415A-7F08-361E0D8E9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6C0A6-C4F0-3CDA-5A5F-AC4AFC3ED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EB1D8-11A7-D50E-38E8-AB1845DDB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456095-D7BE-0786-A3B3-6DFA82AAC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5229B3-2BC2-E647-A9AC-D68D85E1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036D41-0244-EB4F-0DFF-2B0A1FFF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86D3D-9904-CE4D-90B9-C8C5B4E3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7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EED5-CE88-4AFB-E441-1C871B46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7143D-5672-3E30-B2E6-0005F721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44AE8-834C-1B0F-5AA4-E407FFFE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30A03-13FE-1092-41F2-7A7DA433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4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4BCF6-B97A-1414-E473-BD00C438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605DD-CF05-BB95-5708-9CB2A166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D5D1A-BD0B-1133-03A3-7BB2BFBC0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8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D063-6337-24C8-BD11-5F82E6260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BFD89-8204-9221-3869-CCD3AC94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D18D9-FDB9-32F3-0BA3-977CB86A5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70A5F-FCCA-1A57-7B4C-F5F3A6FE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AA2EE-C5C6-682B-D062-A592EAD0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DD02E-529C-7F72-26DC-2EB0CA93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7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4B3B-2A23-36AD-248C-A8A9DC24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B7B910-4EEE-F086-8985-A7C2D6926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37023-D09B-EFE6-E263-3815D0554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25EC9-67BC-CBE8-CB25-D7ADEE57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E2C54-8C24-7201-98ED-640837FD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E05D3-2DBD-E5BF-3429-511FAD95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2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D36B-2E58-A79F-09A7-4756D5AB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3A2B5-824D-CAEA-5B4A-F3F2F330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100F-432A-357D-55B6-ACD573AE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A5F1-0387-00A3-57A4-A0002916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D905B-9C21-AAD0-7B6E-FB021FA0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0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218F9-7384-89B2-37DC-04F2ADBC9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87218-B147-5DFC-892D-47C451644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E290A-379C-FAFC-2886-950A1475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5D2A5-4D2F-3DC5-FD92-27E3E6BE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AB03-3738-263C-8AD8-582F80EE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6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D3668E-51B8-355E-1C07-3CBFB110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866F2-59C9-08A0-A225-97FA5CEA8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B66DF-DABC-79E8-B477-3CA4D5119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85753-3D7A-4C4C-AE68-1FDE09D61B4C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19E60-D485-6564-819B-E8D830F14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88658-4E3B-599F-47AE-1B8A42F8F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E0897-1307-C645-9E2E-5E22B9F26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2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B4B6AA-7F8A-B2F0-49BF-51D9D14A291E}"/>
              </a:ext>
            </a:extLst>
          </p:cNvPr>
          <p:cNvSpPr txBox="1"/>
          <p:nvPr/>
        </p:nvSpPr>
        <p:spPr>
          <a:xfrm>
            <a:off x="118430" y="121185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OpenQASM</a:t>
            </a:r>
            <a:r>
              <a:rPr lang="en-US" b="1" dirty="0"/>
              <a:t> 3.0 – Introductory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3284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24EC-A866-5E7B-7162-A3AD808B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7DBC7B-F851-47F8-C7AF-831B9EDFFBAB}"/>
              </a:ext>
            </a:extLst>
          </p:cNvPr>
          <p:cNvSpPr txBox="1"/>
          <p:nvPr/>
        </p:nvSpPr>
        <p:spPr>
          <a:xfrm>
            <a:off x="114299" y="114300"/>
            <a:ext cx="11658601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</a:t>
            </a:r>
            <a:r>
              <a:rPr lang="en-US" b="1" dirty="0" err="1"/>
              <a:t>OpenQASM</a:t>
            </a:r>
            <a:r>
              <a:rPr lang="en-US" b="1" dirty="0"/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OpenQASM</a:t>
            </a:r>
            <a:r>
              <a:rPr lang="en-US" dirty="0"/>
              <a:t> (Open Quantum Assembly Language) is a low-level programming language for quantum circuits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Designed to describe quantum algorithms in a hardware-executable format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Acts as an interface between high-level quantum languages and quantum hardware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DBFE1-1642-EA53-50B7-DF16C2C6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3733EC-9021-EB59-836A-93FADC8988C6}"/>
              </a:ext>
            </a:extLst>
          </p:cNvPr>
          <p:cNvSpPr txBox="1"/>
          <p:nvPr/>
        </p:nvSpPr>
        <p:spPr>
          <a:xfrm>
            <a:off x="114299" y="114300"/>
            <a:ext cx="11658601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Evolution to </a:t>
            </a:r>
            <a:r>
              <a:rPr lang="en-US" b="1" dirty="0" err="1"/>
              <a:t>OpenQASM</a:t>
            </a:r>
            <a:r>
              <a:rPr lang="en-US" b="1" dirty="0"/>
              <a:t> 3.0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OpenQASM</a:t>
            </a:r>
            <a:r>
              <a:rPr lang="en-US" b="1" dirty="0"/>
              <a:t> 2.0</a:t>
            </a:r>
            <a:r>
              <a:rPr lang="en-US" dirty="0"/>
              <a:t>: Focused on static quantum circuits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OpenQASM</a:t>
            </a:r>
            <a:r>
              <a:rPr lang="en-US" b="1" dirty="0"/>
              <a:t> 3.0</a:t>
            </a:r>
            <a:r>
              <a:rPr lang="en-US" dirty="0"/>
              <a:t>: Introduces dynamic circuits and classical control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real-time interaction between quantum and classical computations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03821D4-4877-1E87-AA11-5BAB6CD80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9448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89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B29E-19F8-1177-1BC3-51686C64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92769B-82AE-AE55-9398-3E349C5E3C56}"/>
              </a:ext>
            </a:extLst>
          </p:cNvPr>
          <p:cNvGraphicFramePr>
            <a:graphicFrameLocks noGrp="1"/>
          </p:cNvGraphicFramePr>
          <p:nvPr/>
        </p:nvGraphicFramePr>
        <p:xfrm>
          <a:off x="114298" y="2630546"/>
          <a:ext cx="11658602" cy="2590800"/>
        </p:xfrm>
        <a:graphic>
          <a:graphicData uri="http://schemas.openxmlformats.org/drawingml/2006/table">
            <a:tbl>
              <a:tblPr/>
              <a:tblGrid>
                <a:gridCol w="5829301">
                  <a:extLst>
                    <a:ext uri="{9D8B030D-6E8A-4147-A177-3AD203B41FA5}">
                      <a16:colId xmlns:a16="http://schemas.microsoft.com/office/drawing/2014/main" val="494767150"/>
                    </a:ext>
                  </a:extLst>
                </a:gridCol>
                <a:gridCol w="5829301">
                  <a:extLst>
                    <a:ext uri="{9D8B030D-6E8A-4147-A177-3AD203B41FA5}">
                      <a16:colId xmlns:a16="http://schemas.microsoft.com/office/drawing/2014/main" val="87100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QASM 2.0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QASM 3.0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Introduced 2012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Introduced 2020 (stable 2022)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8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Static circuits only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Supports dynamic circuits with classical feedback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53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 classical control flow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if‑else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while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for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 loops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39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Only built‑in gates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User‑defined gates, calibrations (</a:t>
                      </a:r>
                      <a:r>
                        <a:rPr lang="en-US" b="0">
                          <a:effectLst/>
                          <a:latin typeface="Menlo" panose="020B0609030804020204" pitchFamily="49" charset="0"/>
                        </a:rPr>
                        <a:t>defcal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48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 timing information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Arbitrary timing, pulse‑level control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97102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C0016893-BAC3-5435-1A9D-9DA51BD7A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9448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86EC6-C3FA-39F4-04DE-E7EFC272769E}"/>
              </a:ext>
            </a:extLst>
          </p:cNvPr>
          <p:cNvSpPr txBox="1"/>
          <p:nvPr/>
        </p:nvSpPr>
        <p:spPr>
          <a:xfrm>
            <a:off x="114299" y="114300"/>
            <a:ext cx="11658601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Evolution to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OpenQASM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3.0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OpenQASM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2.0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: Focused on static quantum circuits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OpenQASM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3.0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: Introduces dynamic circuits and classical control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Enables real-time interaction between quantum and classical computations</a:t>
            </a:r>
          </a:p>
          <a:p>
            <a:pPr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58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CA2A6C-B765-494A-5F4A-A69B79829E22}"/>
              </a:ext>
            </a:extLst>
          </p:cNvPr>
          <p:cNvSpPr txBox="1"/>
          <p:nvPr/>
        </p:nvSpPr>
        <p:spPr>
          <a:xfrm>
            <a:off x="114300" y="114300"/>
            <a:ext cx="59817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</a:t>
            </a:r>
            <a:r>
              <a:rPr lang="en-US" b="1" dirty="0" err="1"/>
              <a:t>OpenQASM</a:t>
            </a:r>
            <a:r>
              <a:rPr lang="en-US" b="1" dirty="0"/>
              <a:t> 3.0 Matters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Bridges the gap between quantum algorithms and hardware execution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more complex and adaptive quantum programs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near-term quantum devices (NISQ era)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23BE-5D68-9D7B-171F-53F86F53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2FEF07-34C6-023B-E073-A3A7F8270988}"/>
              </a:ext>
            </a:extLst>
          </p:cNvPr>
          <p:cNvSpPr txBox="1"/>
          <p:nvPr/>
        </p:nvSpPr>
        <p:spPr>
          <a:xfrm>
            <a:off x="6096000" y="114300"/>
            <a:ext cx="567690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Benefits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Greater flexibility compared to earlier versions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performance via real-time decision-making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hardware utilization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Standardization across quantum platforms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525979-FEFB-6AFF-C2A4-0A67EEC3A888}"/>
              </a:ext>
            </a:extLst>
          </p:cNvPr>
          <p:cNvSpPr txBox="1"/>
          <p:nvPr/>
        </p:nvSpPr>
        <p:spPr>
          <a:xfrm>
            <a:off x="114300" y="114300"/>
            <a:ext cx="59817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Why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OpenQASM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3.0 Matters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Bridges the gap between quantum algorithms and hardware execution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Enables more complex and adaptive quantum programs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Supports near-term quantum devices (NISQ era)</a:t>
            </a:r>
          </a:p>
          <a:p>
            <a:pPr>
              <a:buNone/>
            </a:pP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2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E1F9D7-8837-BCC0-AEE4-CF035030CD0E}"/>
              </a:ext>
            </a:extLst>
          </p:cNvPr>
          <p:cNvSpPr txBox="1"/>
          <p:nvPr/>
        </p:nvSpPr>
        <p:spPr>
          <a:xfrm>
            <a:off x="114300" y="125314"/>
            <a:ext cx="598170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Use Cases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Quantum algorithm development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Error correction and mitigation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Hybrid quantum-classical workflows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Hardware-level experimentation and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24530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BAF9-A162-763B-908D-77D08C83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DF73B7-A372-F5DD-AB18-4E35F2DB8E69}"/>
              </a:ext>
            </a:extLst>
          </p:cNvPr>
          <p:cNvSpPr txBox="1"/>
          <p:nvPr/>
        </p:nvSpPr>
        <p:spPr>
          <a:xfrm>
            <a:off x="114300" y="125314"/>
            <a:ext cx="5981700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Use Cases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Quantum algorithm development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Error correction and mitigation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Hybrid quantum-classical workflows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Hardware-level experimentation and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BBD46-1E03-0854-6167-E5FA28C108BA}"/>
              </a:ext>
            </a:extLst>
          </p:cNvPr>
          <p:cNvSpPr txBox="1"/>
          <p:nvPr/>
        </p:nvSpPr>
        <p:spPr>
          <a:xfrm>
            <a:off x="6105179" y="125314"/>
            <a:ext cx="5667721" cy="28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Basic Syntax Example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OPENQASM 3.0;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qubit q;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bit c;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h q;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measure q -&gt; c;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Applies a Hadamard gate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Measures the qubit into a classical bit</a:t>
            </a:r>
          </a:p>
        </p:txBody>
      </p:sp>
    </p:spTree>
    <p:extLst>
      <p:ext uri="{BB962C8B-B14F-4D97-AF65-F5344CB8AC3E}">
        <p14:creationId xmlns:p14="http://schemas.microsoft.com/office/powerpoint/2010/main" val="1810798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4127B-E95F-1053-B950-E58D58F7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C8065D-800B-DF54-5160-CD4623E68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241654"/>
              </p:ext>
            </p:extLst>
          </p:nvPr>
        </p:nvGraphicFramePr>
        <p:xfrm>
          <a:off x="114300" y="114299"/>
          <a:ext cx="11658600" cy="6035040"/>
        </p:xfrm>
        <a:graphic>
          <a:graphicData uri="http://schemas.openxmlformats.org/drawingml/2006/table">
            <a:tbl>
              <a:tblPr/>
              <a:tblGrid>
                <a:gridCol w="1912804">
                  <a:extLst>
                    <a:ext uri="{9D8B030D-6E8A-4147-A177-3AD203B41FA5}">
                      <a16:colId xmlns:a16="http://schemas.microsoft.com/office/drawing/2014/main" val="2936707698"/>
                    </a:ext>
                  </a:extLst>
                </a:gridCol>
                <a:gridCol w="4872898">
                  <a:extLst>
                    <a:ext uri="{9D8B030D-6E8A-4147-A177-3AD203B41FA5}">
                      <a16:colId xmlns:a16="http://schemas.microsoft.com/office/drawing/2014/main" val="3309258795"/>
                    </a:ext>
                  </a:extLst>
                </a:gridCol>
                <a:gridCol w="4872898">
                  <a:extLst>
                    <a:ext uri="{9D8B030D-6E8A-4147-A177-3AD203B41FA5}">
                      <a16:colId xmlns:a16="http://schemas.microsoft.com/office/drawing/2014/main" val="169039768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Dimension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OpenQASM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3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Qiskit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67721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Abstraction Level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Very low-level, close to hardware instructions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High-level to low-level (multi-layer abstraction)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23639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Describe quantum circuits for execution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Full-stack quantum development (build, simulate, optimize, run)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66865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Programming Paradigm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Declarative / instruction-based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Imperative (Python-based programming)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87863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Language Type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Domain-specific quantum language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Python-based SDK with quantum libraries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6364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Classical Integration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Limited but improved (basic control flow, real-time feedback)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Extensive classical computation using full Python ecosystem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19793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Dynamic Circuits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Native support (if/else, loops, real-time decisions)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Supported, but typically compiled down to </a:t>
                      </a:r>
                      <a:r>
                        <a:rPr lang="en-US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OpenQASM</a:t>
                      </a: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or backend instructions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72552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Hardware Interaction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Direct, hardware-oriented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Abstracted via backends and providers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1703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Portability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Designed as a standard interchange format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Platform-dependent (primarily IBM ecosystem, though extensible)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19078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Compilation Role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Target output of compilers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Includes compiler (</a:t>
                      </a:r>
                      <a:r>
                        <a:rPr lang="en-US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transpiler</a:t>
                      </a: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) that can generate </a:t>
                      </a:r>
                      <a:r>
                        <a:rPr lang="en-US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OpenQASM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66724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Ease of Use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Low (requires detailed hardware understanding)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High (user-friendly APIs and libraries)</a:t>
                      </a:r>
                    </a:p>
                  </a:txBody>
                  <a:tcPr marL="50738" marR="50738" marT="25369" marB="253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21618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Extensibility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Limited (fixed language constructs)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Highly extensible via Python libraries and plugins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635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5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83019F-FEFD-54BE-F700-6C0D7113C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835303"/>
              </p:ext>
            </p:extLst>
          </p:nvPr>
        </p:nvGraphicFramePr>
        <p:xfrm>
          <a:off x="114300" y="114299"/>
          <a:ext cx="11658601" cy="6537960"/>
        </p:xfrm>
        <a:graphic>
          <a:graphicData uri="http://schemas.openxmlformats.org/drawingml/2006/table">
            <a:tbl>
              <a:tblPr/>
              <a:tblGrid>
                <a:gridCol w="2060521">
                  <a:extLst>
                    <a:ext uri="{9D8B030D-6E8A-4147-A177-3AD203B41FA5}">
                      <a16:colId xmlns:a16="http://schemas.microsoft.com/office/drawing/2014/main" val="2936707698"/>
                    </a:ext>
                  </a:extLst>
                </a:gridCol>
                <a:gridCol w="4799040">
                  <a:extLst>
                    <a:ext uri="{9D8B030D-6E8A-4147-A177-3AD203B41FA5}">
                      <a16:colId xmlns:a16="http://schemas.microsoft.com/office/drawing/2014/main" val="3309258795"/>
                    </a:ext>
                  </a:extLst>
                </a:gridCol>
                <a:gridCol w="4799040">
                  <a:extLst>
                    <a:ext uri="{9D8B030D-6E8A-4147-A177-3AD203B41FA5}">
                      <a16:colId xmlns:a16="http://schemas.microsoft.com/office/drawing/2014/main" val="169039768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Dimension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 err="1">
                          <a:effectLst/>
                          <a:latin typeface="Arial" panose="020B0604020202020204" pitchFamily="34" charset="0"/>
                        </a:rPr>
                        <a:t>OpenQASM</a:t>
                      </a: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 3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Qiskit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67721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Debugging Tools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Minimal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Rich debugging, visualization, and simulation tools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4088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Simulation Capabilities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None natively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Built-in simulators (statevector, qasm simulator, etc.)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77476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Circuit drawing, Bloch spheres, histograms, etc.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33853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Ecosystem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Language specification only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Large ecosystem (algorithms, optimization, machine learning)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315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Algorithm Development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Not suitable for high-level algorithm design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Designed for algorithm development and experimentation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9727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Reusability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Limited (basic subroutines)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High (modular code, functions, libraries)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69181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Error Handling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Minimal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Full Python error handling and debugging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27077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Execution Flow Control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Explicit and manual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Managed automatically by SDK layers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03841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Learning Curve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Steep for beginners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More accessible, especially for Python users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41553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Typical Users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Hardware engineers, compiler developers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Researchers, developers, data scientists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66553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Role in Stack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Intermediate representation (IR)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End-to-end development platform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2283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Optimization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Manual or compiler-driven externally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Built-in </a:t>
                      </a:r>
                      <a:r>
                        <a:rPr lang="en-US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transpilation</a:t>
                      </a: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and optimization passes</a:t>
                      </a:r>
                    </a:p>
                  </a:txBody>
                  <a:tcPr marL="55831" marR="55831" marT="27915" marB="279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61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99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5781-969C-CD36-91EB-38F30F62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6575F5-1418-D48B-8561-E079068DFEA2}"/>
              </a:ext>
            </a:extLst>
          </p:cNvPr>
          <p:cNvSpPr txBox="1"/>
          <p:nvPr/>
        </p:nvSpPr>
        <p:spPr>
          <a:xfrm>
            <a:off x="114300" y="114300"/>
            <a:ext cx="116586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Summary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OpenQASM</a:t>
            </a:r>
            <a:r>
              <a:rPr lang="en-US" dirty="0"/>
              <a:t> 3.0 is a powerful evolution of quantum assembly language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Introduces dynamic circuits and classical control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Essential for modern quantum programming and research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351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78C0-A693-2522-04E1-F830CA5D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FFBF5B-D1B1-654C-94E4-685F27F2180D}"/>
              </a:ext>
            </a:extLst>
          </p:cNvPr>
          <p:cNvSpPr txBox="1"/>
          <p:nvPr/>
        </p:nvSpPr>
        <p:spPr>
          <a:xfrm>
            <a:off x="114300" y="114300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Thank You</a:t>
            </a:r>
          </a:p>
          <a:p>
            <a:pPr>
              <a:buNone/>
            </a:pP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9533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652</Words>
  <Application>Microsoft Macintosh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Menlo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Al-Qatatsheh</dc:creator>
  <cp:lastModifiedBy>Ahmed Al-Qatatsheh</cp:lastModifiedBy>
  <cp:revision>2</cp:revision>
  <dcterms:created xsi:type="dcterms:W3CDTF">2026-03-27T00:05:52Z</dcterms:created>
  <dcterms:modified xsi:type="dcterms:W3CDTF">2026-03-27T04:57:38Z</dcterms:modified>
</cp:coreProperties>
</file>